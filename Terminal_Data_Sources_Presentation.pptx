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4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801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TERMINAL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BC9C45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06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C9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Intelligence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4389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RePrime Group  |  Confidential  |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BC9C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45920" cy="237744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1371600"/>
            <a:ext cx="1645920" cy="237744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10312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Today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49040" y="1371600"/>
            <a:ext cx="1645920" cy="237744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$6.92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74904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Deal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1371600"/>
            <a:ext cx="1645920" cy="237744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39496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1371600"/>
            <a:ext cx="1645920" cy="237744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704088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BC9C4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560320" cy="502920"/>
          </a:xfrm>
          <a:prstGeom prst="rect">
            <a:avLst/>
          </a:prstGeom>
          <a:solidFill>
            <a:srgbClr val="00A98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NO AUTH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2560320" cy="292608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Sources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registration. Zero cost. US government &amp; institutional feeds operational 10-30 years.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$0/year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560320" cy="502920"/>
          </a:xfrm>
          <a:prstGeom prst="rect">
            <a:avLst/>
          </a:prstGeom>
          <a:solidFill>
            <a:srgbClr val="00A1FF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FREE KEY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37560" y="1600200"/>
            <a:ext cx="2560320" cy="292608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Sources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20440" y="23317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registration, 30-120 seconds each. Permanent keys, no credit card.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$0/year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72200" y="1097280"/>
            <a:ext cx="2560320" cy="502920"/>
          </a:xfrm>
          <a:prstGeom prst="rect">
            <a:avLst/>
          </a:prstGeom>
          <a:solidFill>
            <a:srgbClr val="BC9C45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PAID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1600200"/>
            <a:ext cx="2560320" cy="292608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737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Sources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55080" y="23317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Institutional-grade vendors. Activated as deal flow justifies spend.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$2K-$300K/year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BC9C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Zero Authentication — Rates &amp; Macro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endpoints require nothing. No key, no signup, no cost. Hit them right now.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2011680"/>
                <a:gridCol w="640080"/>
                <a:gridCol w="5029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 Fed SOFR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markets.newyorkfed.org/api/rates/secured/sofr/last/1.json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SOFR rate, percentiles, volume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 Fed EFFR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markets.newyorkfed.org/api/rates/unsecured/effr/last/1.json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 Funds rate, target band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NY Fed All Rates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markets.newyorkfed.org/api/rates/all/latest.json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SOFR 30/90/180-day averages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FRED 10Y Treasury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fred.stlouisfed.org/graph/fredgraph.csv?id=DGS10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10-Year yield (cap rate anchor)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FRED 30Y Mortgage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fred.stlouisfed.org/graph/fredgraph.csv?id=MORTGAGE30US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30-Year fixed mortgage rate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FRED CRE Delinquency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fred.stlouisfed.org/graph/fredgraph.csv?id=DRCRELEXFACBS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 delinquency all banks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Treasury Yield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home.treasury.gov/.../yield.xml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curve 1M-30Y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BC9C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Zero Authentication — Hazard, Environmental &amp; Regulatory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2011680"/>
                <a:gridCol w="640080"/>
                <a:gridCol w="5029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FEMA Disasters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fema.gov/api/open/v2/DisasterDeclarationsSummaries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Disaster history by county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FEMA NFHL Flood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hazards.fema.gov/arcgis/rest/services/public/NFHL/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Flood zone, SFHA, BFE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revised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USGS Earthquake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earthquake.usgs.gov/.../significant_week.geojson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Magnitude, location, depth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EPA Envirofacts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data.epa.gov/efservice/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Superfund, TRI, brownfields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NOAA Sea Level Rise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coast.noaa.gov/arcgis/rest/services/dc_slr/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Inundation 0-10ft scenarios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NWS Alerts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api.weather.gov/alerts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weather warnings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Register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federalregister.gov/api/v1/documents.json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 rules by HUD/FDIC/OCC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 EDGAR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efts.sec.gov/LATEST/search-index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REIT 8-K/10-K full text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BC9C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Zero Authentication — FX, Markets &amp; Geospatial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2011680"/>
                <a:gridCol w="640080"/>
                <a:gridCol w="5029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Frankfurter FX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api.frankfurter.dev/v1/latest?base=USD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USD/ILS, EUR, GBP (ECB rates)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 of Israel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boi.org.il/PublicApi/GetExchangeRates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USD/ILS rate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CoinGecko Basic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api.coingecko.com/api/v3/simple/price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BTC/USD price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BLS v1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api.bls.gov/publicAPI/v1/timeseries/data/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Unemployment by county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GDELT News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api.gdeltproject.org/api/v2/doc/doc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 news articles + sentiment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Census TIGER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tigerweb.geo.census.gov/arcgis/rest/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Tract/county boundaries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OZ/QCT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catalog.data.gov/dataset/opportunity-zones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OZ designation by tract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 2036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Zillow Research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zillow.com/research/data/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ZHVI, ZORI by ZIP/metro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 Buildings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github.com/microsoft/GlobalMLBuildingFootprints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polygons satellite ML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Periodic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OSM Overpass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overpass-api.de/api/interpreter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footprints, land use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Crowd-updated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BC9C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Free API Key — 14 Sources, $0/year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registration. 30-120 seconds each. Permanent keys. No credit card.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097280"/>
                <a:gridCol w="27432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Registration URL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Limit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Scope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FRED API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fredaccount.stlouisfed.org/apikeys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req/min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800,000+ economic series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Census Bureau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api.census.gov/data/key_signup.html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queries/day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45+ datasets, tract-level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BLS v2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data.bls.gov/registrationEngine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 series/day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NFP, CPI, PPI, JOLTS, QCEW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apps.bea.gov/API/signup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req/min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GDP by metro, income, FDI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eia.gov/opendata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Generous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Electricity, gas, petroleum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Finnhub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finnhub.io/register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calls/min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US equities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Polygon.io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polygon.io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calls/min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EOD all US equities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Walk Score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walkscore.com/professional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5K calls/day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Walk/Transit/Bike Score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OpenWeather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openweathermap.org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calls/min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Weather, forecast, AQI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User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huduser.gov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Bearer token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FMR, Income Limits, CHAS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Regulations.gov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api.data.gov/signup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1K req/hr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rulemaking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 Vantage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alphavantage.co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calls/day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 quotes, FX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CoinGecko Demo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coingecko.com/api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30/min, 10K/mo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Crypto in 50+ currencies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Twelve Data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twelvedata.com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 credits/day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Equity/FX 15-min delayed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BC9C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Paid — Institutional Grade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Activated as deal flow justifies spend. Even at full deployment (~$300K/yr), cost = $24/deal.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12064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 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Cost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47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 iQ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CMBS distress, $2.3T tracked, borrower contacts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$20-50K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Trepp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CMBS surveillance, industry standard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$50-250K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CompStak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1.6M+ verified lease comps, AI rent predictor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Mid-5-figures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CoStar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 data, vacancy, rent — the standard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$30-80K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ATTOM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54M+ parcels, ownership, tax, deed, AVM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$10K+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Placer.ai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Foot traffic, RTO trajectory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$25K+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Street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30-yr flood/wind/wildfire at parcel level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Reonomy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Likelihood to Sell scoring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$4,800/user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Dealpath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$10T+ institutional pipeline, AI Extract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Clik.ai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AutoUW rent roll + T-12 extraction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deal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Zoneomics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Zoning codes, FAR, height for 22K+ jurisdictions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$4,788/yr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Regrid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146M+ parcel boundaries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$6-24K/yr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BC9C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Concept: Live API Test — June 1,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endpoint below was hit live. Real data returned.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15/18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Responded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 Success Rate on First Attempt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343400"/>
            <a:ext cx="3840480" cy="45720"/>
          </a:xfrm>
          <a:prstGeom prst="rect">
            <a:avLst/>
          </a:prstGeom>
          <a:solidFill>
            <a:srgbClr val="00A980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188720"/>
            <a:ext cx="3840480" cy="3200400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Values Returned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SOFR:  </a:t>
            </a:r>
            <a:pPr algn="l" indent="0" marL="0">
              <a:buNone/>
            </a:pPr>
            <a:r>
              <a:rPr lang="en-US" sz="1100" b="1" dirty="0">
                <a:solidFill>
                  <a:srgbClr val="00A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3.63%</a:t>
            </a:r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(NY Fed)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21671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10Y Treasury:  </a:t>
            </a:r>
            <a:pPr algn="l" indent="0" marL="0">
              <a:buNone/>
            </a:pPr>
            <a:r>
              <a:rPr lang="en-US" sz="1100" b="1" dirty="0">
                <a:solidFill>
                  <a:srgbClr val="00A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4.45%</a:t>
            </a:r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(FRED)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25511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30Y Mortgage:  </a:t>
            </a:r>
            <a:pPr algn="l" indent="0" marL="0">
              <a:buNone/>
            </a:pPr>
            <a:r>
              <a:rPr lang="en-US" sz="1100" b="1" dirty="0">
                <a:solidFill>
                  <a:srgbClr val="00A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6.53%</a:t>
            </a:r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(FRED)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9352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USD/ILS:  </a:t>
            </a:r>
            <a:pPr algn="l" indent="0" marL="0">
              <a:buNone/>
            </a:pPr>
            <a:r>
              <a:rPr lang="en-US" sz="1100" b="1" dirty="0">
                <a:solidFill>
                  <a:srgbClr val="00A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2.8155</a:t>
            </a:r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(Frankfurter/ECB)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3319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BTC:  </a:t>
            </a:r>
            <a:pPr algn="l" indent="0" marL="0">
              <a:buNone/>
            </a:pPr>
            <a:r>
              <a:rPr lang="en-US" sz="1100" b="1" dirty="0">
                <a:solidFill>
                  <a:srgbClr val="00A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$71,329</a:t>
            </a:r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(CoinGecko)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E3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Funds:  </a:t>
            </a:r>
            <a:pPr algn="l" indent="0" marL="0">
              <a:buNone/>
            </a:pPr>
            <a:r>
              <a:rPr lang="en-US" sz="1100" b="1" dirty="0">
                <a:solidFill>
                  <a:srgbClr val="00A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3.62%</a:t>
            </a:r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(NY Fed)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4343400"/>
            <a:ext cx="3840480" cy="45720"/>
          </a:xfrm>
          <a:prstGeom prst="rect">
            <a:avLst/>
          </a:prstGeom>
          <a:solidFill>
            <a:srgbClr val="BC9C45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34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C9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Competitive Moat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1280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is accessible. The architecture is not.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1965960"/>
            <a:ext cx="2743200" cy="27432"/>
          </a:xfrm>
          <a:prstGeom prst="rect">
            <a:avLst/>
          </a:prstGeom>
          <a:solidFill>
            <a:srgbClr val="BC9C4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86000"/>
            <a:ext cx="1828800" cy="1645920"/>
          </a:xfrm>
          <a:prstGeom prst="rect">
            <a:avLst/>
          </a:prstGeom>
          <a:solidFill>
            <a:srgbClr val="0A2A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C9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2,717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Sources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24328" y="2286000"/>
            <a:ext cx="1828800" cy="1645920"/>
          </a:xfrm>
          <a:prstGeom prst="rect">
            <a:avLst/>
          </a:prstGeom>
          <a:solidFill>
            <a:srgbClr val="0A2A5C"/>
          </a:solidFill>
          <a:ln/>
        </p:spPr>
      </p:sp>
      <p:sp>
        <p:nvSpPr>
          <p:cNvPr id="9" name="Text 7"/>
          <p:cNvSpPr/>
          <p:nvPr/>
        </p:nvSpPr>
        <p:spPr>
          <a:xfrm>
            <a:off x="2624328" y="2377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C9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24328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(none skippable)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0016" y="2286000"/>
            <a:ext cx="1828800" cy="1645920"/>
          </a:xfrm>
          <a:prstGeom prst="rect">
            <a:avLst/>
          </a:prstGeom>
          <a:solidFill>
            <a:srgbClr val="0A2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700016" y="2377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C9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00016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Rules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Deal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75704" y="2286000"/>
            <a:ext cx="1828800" cy="1645920"/>
          </a:xfrm>
          <a:prstGeom prst="rect">
            <a:avLst/>
          </a:prstGeom>
          <a:solidFill>
            <a:srgbClr val="0A2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775704" y="23774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C9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75704" y="3200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Without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C9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replicate: 12-18 months. And by then, Terminal has 18 months of deal data they can’t retroactively create.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34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REPRIME GROUP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2377440"/>
            <a:ext cx="2743200" cy="27432"/>
          </a:xfrm>
          <a:prstGeom prst="rect">
            <a:avLst/>
          </a:prstGeom>
          <a:solidFill>
            <a:srgbClr val="BC9C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C9C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is not an improvement. It is a replacement.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389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info@reprime.com  ·  888-770-8770  ·  Confidential  ·  June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Terminal - Data Intelligence Architecture</dc:title>
  <dc:subject>PptxGenJS Presentation</dc:subject>
  <dc:creator>RePrime Group</dc:creator>
  <cp:lastModifiedBy>RePrime Group</cp:lastModifiedBy>
  <cp:revision>1</cp:revision>
  <dcterms:created xsi:type="dcterms:W3CDTF">2026-06-01T18:42:35Z</dcterms:created>
  <dcterms:modified xsi:type="dcterms:W3CDTF">2026-06-01T18:42:35Z</dcterms:modified>
</cp:coreProperties>
</file>